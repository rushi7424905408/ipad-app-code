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PROJEKTPRÄSENTATION &amp; ARCHITEKTUR</a:t>
            </a:r>
          </a:p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WortSchatz</a:t>
            </a:r>
          </a:p>
          <a:p>
            <a:pPr algn="ctr">
              <a:spcAft>
                <a:spcPts val="2000"/>
              </a:spcAft>
              <a:defRPr sz="2200">
                <a:solidFill>
                  <a:srgbClr val="3B82F6"/>
                </a:solidFill>
                <a:latin typeface="Arial"/>
              </a:defRPr>
            </a:pPr>
            <a:r>
              <a:t>Intelligentes deutsches PDF-Lern- &amp; Morphologie-Toolkit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Offline-First • Zero-Hallucination Zerleger • Vektor-PDF Export • Obsidian PKM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5303520"/>
            <a:ext cx="2377440" cy="822960"/>
          </a:xfrm>
          <a:prstGeom prst="roundRect">
            <a:avLst/>
          </a:prstGeom>
          <a:solidFill>
            <a:srgbClr val="161E31"/>
          </a:solidFill>
          <a:ln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240+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Validierte Verbwurzeln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303520"/>
            <a:ext cx="2377440" cy="822960"/>
          </a:xfrm>
          <a:prstGeom prst="roundRect">
            <a:avLst/>
          </a:prstGeom>
          <a:solidFill>
            <a:srgbClr val="161E31"/>
          </a:solidFill>
          <a:ln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&lt; 0.1 ms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Morphologie-Latenz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5303520"/>
            <a:ext cx="2377440" cy="822960"/>
          </a:xfrm>
          <a:prstGeom prst="roundRect">
            <a:avLst/>
          </a:prstGeom>
          <a:solidFill>
            <a:srgbClr val="161E31"/>
          </a:solidFill>
          <a:ln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DSGVO &amp; Offline-Fähig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HERAUSFORDERUNG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Die Kernprobleme beim Lesen deutscher Fachtexte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1. Agglutination &amp; Komposita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Endlose Wortzusammensetzungen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Lange Komposita: </a:t>
            </a:r>
            <a:r>
              <a:rPr sz="1100">
                <a:solidFill>
                  <a:srgbClr val="94A3B8"/>
                </a:solidFill>
                <a:latin typeface="Arial"/>
              </a:rPr>
              <a:t>Wörter wie 'Rechtsschutzversicherungsgesellschaften' blockieren den Lesefluss.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64748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Standardwörterbücher versagen: </a:t>
            </a:r>
            <a:r>
              <a:rPr sz="1100">
                <a:solidFill>
                  <a:srgbClr val="94A3B8"/>
                </a:solidFill>
                <a:latin typeface="Arial"/>
              </a:rPr>
              <a:t>Finden zusammengesetzte Begriffe oft nicht als Ganzes.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Kognitive Überlastung: </a:t>
            </a:r>
            <a:r>
              <a:rPr sz="1100">
                <a:solidFill>
                  <a:srgbClr val="94A3B8"/>
                </a:solidFill>
                <a:latin typeface="Arial"/>
              </a:rPr>
              <a:t>Manuelle Zerlegung in Einzelwörter kostet Zeit und Energie.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2. Trennbare Verben &amp; Klammer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Satzklammer-Phänomen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Distanzierte Präfixe: </a:t>
            </a:r>
            <a:r>
              <a:rPr sz="1100">
                <a:solidFill>
                  <a:srgbClr val="94A3B8"/>
                </a:solidFill>
                <a:latin typeface="Arial"/>
              </a:rPr>
              <a:t>'Sie fängt ... an' – Präfix steht am Satzende.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Bedeutungswandel: </a:t>
            </a:r>
            <a:r>
              <a:rPr sz="1100">
                <a:solidFill>
                  <a:srgbClr val="94A3B8"/>
                </a:solidFill>
                <a:latin typeface="Arial"/>
              </a:rPr>
              <a:t>'aufhören' vs. 'hören' – falsche Annahmen verfälschen den Sinn.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Konjugierte Formen: </a:t>
            </a:r>
            <a:r>
              <a:rPr sz="1100">
                <a:solidFill>
                  <a:srgbClr val="94A3B8"/>
                </a:solidFill>
                <a:latin typeface="Arial"/>
              </a:rPr>
              <a:t>'eingestiegen' muss auf Stamm 'steigen' zurückgeführt werden.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3. Tool-Fragmentierung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Medienbrüche &amp; Reibung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PDF $\leftrightarrow$ Browser Tab-Hopping: </a:t>
            </a:r>
            <a:r>
              <a:rPr sz="1100">
                <a:solidFill>
                  <a:srgbClr val="94A3B8"/>
                </a:solidFill>
                <a:latin typeface="Arial"/>
              </a:rPr>
              <a:t>Ständiges Wechseln zwischen PDF-Reader und Web-Übersetzer.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Verlorene Notizen: </a:t>
            </a:r>
            <a:r>
              <a:rPr sz="1100">
                <a:solidFill>
                  <a:srgbClr val="94A3B8"/>
                </a:solidFill>
                <a:latin typeface="Arial"/>
              </a:rPr>
              <a:t>Markierungen bleiben im PDF gefangen und fließen nicht ins Vokabelheft.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Datenschutzrisiken: </a:t>
            </a:r>
            <a:r>
              <a:rPr sz="1100">
                <a:solidFill>
                  <a:srgbClr val="94A3B8"/>
                </a:solidFill>
                <a:latin typeface="Arial"/>
              </a:rPr>
              <a:t>Cloud-Übersetzer senden vertrauliche Dokumente an Fremdserver.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LEITPRINZIPIEN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Produktvision &amp; Design-Philosophie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Minimal Default UI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Keine visuelle Überfrachtung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Schlanke Erstansicht: </a:t>
            </a:r>
            <a:r>
              <a:rPr sz="1100">
                <a:solidFill>
                  <a:srgbClr val="94A3B8"/>
                </a:solidFill>
                <a:latin typeface="Arial"/>
              </a:rPr>
              <a:t>Beim Wortklick erscheint nur das Wesentliche: Bedeutung, Stamm, IPA-Aussprache.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Ablenkungsfreies Lesen: </a:t>
            </a:r>
            <a:r>
              <a:rPr sz="1100">
                <a:solidFill>
                  <a:srgbClr val="94A3B8"/>
                </a:solidFill>
                <a:latin typeface="Arial"/>
              </a:rPr>
              <a:t>Lernende behalten den Lesefokus im Originaldokument.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On-Demand Tiefenanalyse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Volle Kontrolle per Master-Toggle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iOS-Style Schalter: </a:t>
            </a:r>
            <a:r>
              <a:rPr sz="1100">
                <a:solidFill>
                  <a:srgbClr val="94A3B8"/>
                </a:solidFill>
                <a:latin typeface="Arial"/>
              </a:rPr>
              <a:t>Ein Klick expandiert Wortfamilie, Präfixe, Trennbarkeit und Suffixe.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Sub-Pill Filter: </a:t>
            </a:r>
            <a:r>
              <a:rPr sz="1100">
                <a:solidFill>
                  <a:srgbClr val="94A3B8"/>
                </a:solidFill>
                <a:latin typeface="Arial"/>
              </a:rPr>
              <a:t>Gezieltes Filtern nach trennbaren vs. untrennbaren Varianten.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175504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Zero-Hallucination Engine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Regelbasierte morphologische Exaktheit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Keine LLM-Halluzinationen: </a:t>
            </a:r>
            <a:r>
              <a:rPr sz="1100">
                <a:solidFill>
                  <a:srgbClr val="94A3B8"/>
                </a:solidFill>
                <a:latin typeface="Arial"/>
              </a:rPr>
              <a:t>Deterministische Zerlegung anhand validierter deutscher Grammatikregeln.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Präfix-Schutzbarrieren: </a:t>
            </a:r>
            <a:r>
              <a:rPr sz="1100">
                <a:solidFill>
                  <a:srgbClr val="94A3B8"/>
                </a:solidFill>
                <a:latin typeface="Arial"/>
              </a:rPr>
              <a:t>'be-', 'ge-', 'ver-' Verben werden niemals falsch abgetrennt.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160520"/>
            <a:ext cx="5175504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8097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100% Offline &amp; DSGVO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Client-Side Zero-Telemetry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Kein Serverkontakt: </a:t>
            </a:r>
            <a:r>
              <a:rPr sz="1100">
                <a:solidFill>
                  <a:srgbClr val="94A3B8"/>
                </a:solidFill>
                <a:latin typeface="Arial"/>
              </a:rPr>
              <a:t>Alle Dokumente und Wortdaten bleiben zu 100% auf dem Rechner des Nutzers.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Standalone-Fähigkeit: </a:t>
            </a:r>
            <a:r>
              <a:rPr sz="1100">
                <a:solidFill>
                  <a:srgbClr val="94A3B8"/>
                </a:solidFill>
                <a:latin typeface="Arial"/>
              </a:rPr>
              <a:t>Lauffähig als autarke Single-File HTML-Applikation ohne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ZIELGRUPPEN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Persona-Analyse &amp; Anwendungsfälle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Dr. Elena Rostova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Internationale Fachkraft (B2/C1)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Kontext: </a:t>
            </a:r>
            <a:r>
              <a:rPr sz="1100">
                <a:solidFill>
                  <a:srgbClr val="94A3B8"/>
                </a:solidFill>
                <a:latin typeface="Arial"/>
              </a:rPr>
              <a:t>Arbeitet in einer deutschen Ingenieurgesellschaft.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Bedarf: </a:t>
            </a:r>
            <a:r>
              <a:rPr sz="1100">
                <a:solidFill>
                  <a:srgbClr val="94A3B8"/>
                </a:solidFill>
                <a:latin typeface="Arial"/>
              </a:rPr>
              <a:t>Liest technische DIN-Normen und Projektberichte mit langen Komposita.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Mehrwert: </a:t>
            </a:r>
            <a:r>
              <a:rPr sz="1100">
                <a:solidFill>
                  <a:srgbClr val="94A3B8"/>
                </a:solidFill>
                <a:latin typeface="Arial"/>
              </a:rPr>
              <a:t>Sofortige Kompositazerlegung ohne Kontextverlust spart 45 Min./Tag.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Lucas Moretti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Master-Student an der TUM (B1+)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Kontext: </a:t>
            </a:r>
            <a:r>
              <a:rPr sz="1100">
                <a:solidFill>
                  <a:srgbClr val="94A3B8"/>
                </a:solidFill>
                <a:latin typeface="Arial"/>
              </a:rPr>
              <a:t>Bereitet sich auf die TestDaF / C1-Hochschulprüfung vor.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Bedarf: </a:t>
            </a:r>
            <a:r>
              <a:rPr sz="1100">
                <a:solidFill>
                  <a:srgbClr val="94A3B8"/>
                </a:solidFill>
                <a:latin typeface="Arial"/>
              </a:rPr>
              <a:t>Muss akademische Papers und Gesetzestexte durcharbeiten.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Mehrwert: </a:t>
            </a:r>
            <a:r>
              <a:rPr sz="1100">
                <a:solidFill>
                  <a:srgbClr val="94A3B8"/>
                </a:solidFill>
                <a:latin typeface="Arial"/>
              </a:rPr>
              <a:t>Wortfamilien-Explorer &amp; direkter Obsidian-Export für Zettelkasten.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Priya Sharma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Berufseinsteigerin im Gesundheitswesen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Kontext: </a:t>
            </a:r>
            <a:r>
              <a:rPr sz="1100">
                <a:solidFill>
                  <a:srgbClr val="94A3B8"/>
                </a:solidFill>
                <a:latin typeface="Arial"/>
              </a:rPr>
              <a:t>Pflegefachkraft mit Goethe-B2 Zertifikatsziel.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Bedarf: </a:t>
            </a:r>
            <a:r>
              <a:rPr sz="1100">
                <a:solidFill>
                  <a:srgbClr val="94A3B8"/>
                </a:solidFill>
                <a:latin typeface="Arial"/>
              </a:rPr>
              <a:t>Umgang mit medizinischen Richtlinien und Formularen.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Mehrwert: </a:t>
            </a:r>
            <a:r>
              <a:rPr sz="1100">
                <a:solidFill>
                  <a:srgbClr val="94A3B8"/>
                </a:solidFill>
                <a:latin typeface="Arial"/>
              </a:rPr>
              <a:t>Flashcard-Studio für Konjugationstraining &amp; Audio-Aussprache per Web Speech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Flat Client Systemarchitektur &amp; Tech-Stack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Präsentationsschicht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HTML5 Canvas &amp; Glassmorphism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Dual-Layer Canvas: </a:t>
            </a:r>
            <a:r>
              <a:rPr sz="1100">
                <a:solidFill>
                  <a:srgbClr val="94A3B8"/>
                </a:solidFill>
                <a:latin typeface="Arial"/>
              </a:rPr>
              <a:t>PDF.js gerenderte Dokumentenseiten mit transparentem Text-Overlay.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Popup &amp; Annotator UI: </a:t>
            </a:r>
            <a:r>
              <a:rPr sz="1100">
                <a:solidFill>
                  <a:srgbClr val="94A3B8"/>
                </a:solidFill>
                <a:latin typeface="Arial"/>
              </a:rPr>
              <a:t>Apple/Linear Dark-First Designsystem mit Micro-Animations.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Modal Studio: </a:t>
            </a:r>
            <a:r>
              <a:rPr sz="1100">
                <a:solidFill>
                  <a:srgbClr val="94A3B8"/>
                </a:solidFill>
                <a:latin typeface="Arial"/>
              </a:rPr>
              <a:t>Flashcard 3D-Flip, Obsidian Export &amp; Suchmaske.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Morphologie &amp; Core Engine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GermanMorphologyEngine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Stamm- &amp; Präfix-Parser: </a:t>
            </a:r>
            <a:r>
              <a:rPr sz="1100">
                <a:solidFill>
                  <a:srgbClr val="94A3B8"/>
                </a:solidFill>
                <a:latin typeface="Arial"/>
              </a:rPr>
              <a:t>Longest-Prefix-First Algorithmus mit 240+ Verb-Wurzeln.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Inseparable Guard: </a:t>
            </a:r>
            <a:r>
              <a:rPr sz="1100">
                <a:solidFill>
                  <a:srgbClr val="94A3B8"/>
                </a:solidFill>
                <a:latin typeface="Arial"/>
              </a:rPr>
              <a:t>Schutzbarriere gegen falsche Präfixabtrennung.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Cross-Umlaut Normalizer: </a:t>
            </a:r>
            <a:r>
              <a:rPr sz="1100">
                <a:solidFill>
                  <a:srgbClr val="94A3B8"/>
                </a:solidFill>
                <a:latin typeface="Arial"/>
              </a:rPr>
              <a:t>ä/ö/ü zu a/o/u Stamm-Mapping für Konjugationsformen.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Persistenz &amp; I/O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Zero-Dependency Storage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PDF-Lib Vektor Export: </a:t>
            </a:r>
            <a:r>
              <a:rPr sz="1100">
                <a:solidFill>
                  <a:srgbClr val="94A3B8"/>
                </a:solidFill>
                <a:latin typeface="Arial"/>
              </a:rPr>
              <a:t>Verlustfreie Highlight-Einbettung direkt in PDF-Bytes.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Local Storage / IndexedDB: </a:t>
            </a:r>
            <a:r>
              <a:rPr sz="1100">
                <a:solidFill>
                  <a:srgbClr val="94A3B8"/>
                </a:solidFill>
                <a:latin typeface="Arial"/>
              </a:rPr>
              <a:t>Speicherung von Notizen, Tags und Flashcards.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Web Speech API: </a:t>
            </a:r>
            <a:r>
              <a:rPr sz="1100">
                <a:solidFill>
                  <a:srgbClr val="94A3B8"/>
                </a:solidFill>
                <a:latin typeface="Arial"/>
              </a:rPr>
              <a:t>Native Audio-Aussprache auf Deutsch (de-DE) ohne Netzwerk.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PDF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Dual-Layer Rendering &amp; Präzise Selektion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Dual-Layer Rendering Architektur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Pixelgenaues PDF.js Zusammenspiel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Ebene 1: Bitmap Canvas: </a:t>
            </a:r>
            <a:r>
              <a:rPr sz="1100">
                <a:solidFill>
                  <a:srgbClr val="94A3B8"/>
                </a:solidFill>
                <a:latin typeface="Arial"/>
              </a:rPr>
              <a:t>Gerenderte Vektorgrafiken und Schriftbilder mit 1.5x HiDPI Skalierung.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Ebene 2: Transparentes TextLayer: </a:t>
            </a:r>
            <a:r>
              <a:rPr sz="1100">
                <a:solidFill>
                  <a:srgbClr val="94A3B8"/>
                </a:solidFill>
                <a:latin typeface="Arial"/>
              </a:rPr>
              <a:t>Exakt ausgerichtete HTML-Spans über jedem Wort für Selektion und Klick-Events.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Ebene 3: Annotation Overlay Canvas: </a:t>
            </a:r>
            <a:r>
              <a:rPr sz="1100">
                <a:solidFill>
                  <a:srgbClr val="94A3B8"/>
                </a:solidFill>
                <a:latin typeface="Arial"/>
              </a:rPr>
              <a:t>Vektor-Highlights und farbige Markierungen (Gelb, Grün, Blau, Rosa).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Viewport-Transformationsmatrix: </a:t>
            </a:r>
            <a:r>
              <a:rPr sz="1100">
                <a:solidFill>
                  <a:srgbClr val="94A3B8"/>
                </a:solidFill>
                <a:latin typeface="Arial"/>
              </a:rPr>
              <a:t>Präzise Koordinatenumrechnung zwischen PDF-Punkten und Bildschirm-Pixeln.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Interaktions- &amp; Klick-Erkennung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Nahtlose Nutzererfahrung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Einzelklick-Inspektion: </a:t>
            </a:r>
            <a:r>
              <a:rPr sz="1100">
                <a:solidFill>
                  <a:srgbClr val="94A3B8"/>
                </a:solidFill>
                <a:latin typeface="Arial"/>
              </a:rPr>
              <a:t>Sofortiges Öffnen der Wortkarte an der exakten Mausposition.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Mehrwort-Selektion: </a:t>
            </a:r>
            <a:r>
              <a:rPr sz="1100">
                <a:solidFill>
                  <a:srgbClr val="94A3B8"/>
                </a:solidFill>
                <a:latin typeface="Arial"/>
              </a:rPr>
              <a:t>Satz- und Phrasenanalyse für kontextbezogene Erklärungen.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Performance-Optimierung: </a:t>
            </a:r>
            <a:r>
              <a:rPr sz="1100">
                <a:solidFill>
                  <a:srgbClr val="94A3B8"/>
                </a:solidFill>
                <a:latin typeface="Arial"/>
              </a:rPr>
              <a:t>Lazy Rendering von Seiten außerhalb des sichtbaren Viewports.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Zoom &amp; Pan Support: </a:t>
            </a:r>
            <a:r>
              <a:rPr sz="1100">
                <a:solidFill>
                  <a:srgbClr val="94A3B8"/>
                </a:solidFill>
                <a:latin typeface="Arial"/>
              </a:rPr>
              <a:t>Stufenloser Zoom von 50% bis 300% mit flüssiger Neuskalierung.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MORPHOLOGIE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Der 5-stufige Parsing-Algorithmus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Morphologische Analyse-Pipeline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Verarbeitung in &lt; 0,1 Millisekunden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Schritt 1: Token Bereinigung &amp; Normalisierung: </a:t>
            </a:r>
            <a:r>
              <a:rPr sz="1100">
                <a:solidFill>
                  <a:srgbClr val="94A3B8"/>
                </a:solidFill>
                <a:latin typeface="Arial"/>
              </a:rPr>
              <a:t>Entfernt Satzzeichen, trimmt Whitespace und analysiert Groß-/Kleinschreibung.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Schritt 2: Inseparable Prefix Schutzbarriere: </a:t>
            </a:r>
            <a:r>
              <a:rPr sz="1100">
                <a:solidFill>
                  <a:srgbClr val="94A3B8"/>
                </a:solidFill>
                <a:latin typeface="Arial"/>
              </a:rPr>
              <a:t>Prüft, ob das Wort mit untrennbaren Präfixen (z.B. 'be-', 'ge-') beginnt, um Fehlzerlegungen auszuschließen.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Schritt 3: Cross-Umlaut Normalisierung: </a:t>
            </a:r>
            <a:r>
              <a:rPr sz="1100">
                <a:solidFill>
                  <a:srgbClr val="94A3B8"/>
                </a:solidFill>
                <a:latin typeface="Arial"/>
              </a:rPr>
              <a:t>Wandelt Umlaute im Verbstamm (z.B. 'fängt' $\to$ 'fang') um, um die Stammwurzel 'fangen' zu matchen.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Schritt 4: Longest-Prefix-First Matcher: </a:t>
            </a:r>
            <a:r>
              <a:rPr sz="1100">
                <a:solidFill>
                  <a:srgbClr val="94A3B8"/>
                </a:solidFill>
                <a:latin typeface="Arial"/>
              </a:rPr>
              <a:t>Gleicht 40+ trennbare Präfixe ('zurück-', 'auf-', 'ein-') gegen 240+ validierte Stammwurzeln ab.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Schritt 5: Aggregation &amp; Vokabelkarten-Generierung: </a:t>
            </a:r>
            <a:r>
              <a:rPr sz="1100">
                <a:solidFill>
                  <a:srgbClr val="94A3B8"/>
                </a:solidFill>
                <a:latin typeface="Arial"/>
              </a:rPr>
              <a:t>Erstellt Wortfamilie, grammatikalische Klassifikation, Konjugation und Beispielsätze.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PRÄFIX-SCHUTZ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Inseparable Prefix Barrier gegen Fehlzerlegung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Das Kernproblem ohne Schutz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Morphologische Fehlzerlegungen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Beispiel 'beantworten': </a:t>
            </a:r>
            <a:r>
              <a:rPr sz="1100">
                <a:solidFill>
                  <a:srgbClr val="94A3B8"/>
                </a:solidFill>
                <a:latin typeface="Arial"/>
              </a:rPr>
              <a:t>Naiver Zerleger schneidet fälschlich 'an-' ab und ergibt das unsinnige Wort 'betworten'.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Beispiel 'gestehen': </a:t>
            </a:r>
            <a:r>
              <a:rPr sz="1100">
                <a:solidFill>
                  <a:srgbClr val="94A3B8"/>
                </a:solidFill>
                <a:latin typeface="Arial"/>
              </a:rPr>
              <a:t>Naiver Zerleger sieht 'ge-' als Partizip-Präfix und sucht nach 'stehen'.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Beispiel 'verstehen': </a:t>
            </a:r>
            <a:r>
              <a:rPr sz="1100">
                <a:solidFill>
                  <a:srgbClr val="94A3B8"/>
                </a:solidFill>
                <a:latin typeface="Arial"/>
              </a:rPr>
              <a:t>Naiver Zerleger trennt 'ver-' ab und verfälscht die Kernbedeutung.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Konsequenz: </a:t>
            </a:r>
            <a:r>
              <a:rPr sz="1100">
                <a:solidFill>
                  <a:srgbClr val="94A3B8"/>
                </a:solidFill>
                <a:latin typeface="Arial"/>
              </a:rPr>
              <a:t>Lernende erhalten falsche Grammatikregeln und irreführende Vokabeln.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Die WortSchatz Schutzbarriere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100% Exaktheit durch Barrieren-Prüfung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Untrennbare Präfix-Liste: </a:t>
            </a:r>
            <a:r>
              <a:rPr sz="1100">
                <a:solidFill>
                  <a:srgbClr val="94A3B8"/>
                </a:solidFill>
                <a:latin typeface="Arial"/>
              </a:rPr>
              <a:t>be-, ge-, er-, ver-, zer-, ent-, empf-, miss- werden prioritär erkannt.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Wurzel-Rückführung: </a:t>
            </a:r>
            <a:r>
              <a:rPr sz="1100">
                <a:solidFill>
                  <a:srgbClr val="94A3B8"/>
                </a:solidFill>
                <a:latin typeface="Arial"/>
              </a:rPr>
              <a:t>'beantworten' wird korrekt auf Wurzel 'antworten' zurückgeführt.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Vollständige Wortfamilie: </a:t>
            </a:r>
            <a:r>
              <a:rPr sz="1100">
                <a:solidFill>
                  <a:srgbClr val="94A3B8"/>
                </a:solidFill>
                <a:latin typeface="Arial"/>
              </a:rPr>
              <a:t>Zeigt antworten, beantworten, verantworten, abantworten ohne Artefakte.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Zero-Hallucination Garantie: </a:t>
            </a:r>
            <a:r>
              <a:rPr sz="1100">
                <a:solidFill>
                  <a:srgbClr val="94A3B8"/>
                </a:solidFill>
                <a:latin typeface="Arial"/>
              </a:rPr>
              <a:t>Keine generierten Kunstwörter in der Benutzeroberfläche.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VERBEN-MATRIX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Trennbare Verben Matrix &amp; Longest-Prefix-First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Longest-Prefix-First Strategie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Präfixauflösung nach Maximallänge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Priorität mehrsilbiger Präfixe: </a:t>
            </a:r>
            <a:r>
              <a:rPr sz="1100">
                <a:solidFill>
                  <a:srgbClr val="94A3B8"/>
                </a:solidFill>
                <a:latin typeface="Arial"/>
              </a:rPr>
              <a:t>'zurückkehren': Matcht 'zurück-' vor 'zu-', verhindert Teilabtrennung.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40+ Trennbare Präfixe: </a:t>
            </a:r>
            <a:r>
              <a:rPr sz="1100">
                <a:solidFill>
                  <a:srgbClr val="94A3B8"/>
                </a:solidFill>
                <a:latin typeface="Arial"/>
              </a:rPr>
              <a:t>ab-, an-, auf-, aus-, bei-, ein-, mit-, nach-, vor-, weg-, zu-, zurück-, zusammen- uvm.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240+ Validierte Wurzeln: </a:t>
            </a:r>
            <a:r>
              <a:rPr sz="1100">
                <a:solidFill>
                  <a:srgbClr val="94A3B8"/>
                </a:solidFill>
                <a:latin typeface="Arial"/>
              </a:rPr>
              <a:t>Umfasst alle gebräuchlichen A1-C2 Verben der deutschen Sprache.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Echte Wörterbuch-Validierung: </a:t>
            </a:r>
            <a:r>
              <a:rPr sz="1100">
                <a:solidFill>
                  <a:srgbClr val="94A3B8"/>
                </a:solidFill>
                <a:latin typeface="Arial"/>
              </a:rPr>
              <a:t>Nur reale Verben werden in die Wortfamilie aufgenommen.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Beispiel: 'führen' &amp; 'nehmen'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Wortfamilien-Expansion in Echtzeit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Wurzel 'führen': </a:t>
            </a:r>
            <a:r>
              <a:rPr sz="1100">
                <a:solidFill>
                  <a:srgbClr val="94A3B8"/>
                </a:solidFill>
                <a:latin typeface="Arial"/>
              </a:rPr>
              <a:t>abführen, anführen, aufführen, ausführen, einführen, mitführen, vorführen, zurückführen.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Wurzel 'nehmen': </a:t>
            </a:r>
            <a:r>
              <a:rPr sz="1100">
                <a:solidFill>
                  <a:srgbClr val="94A3B8"/>
                </a:solidFill>
                <a:latin typeface="Arial"/>
              </a:rPr>
              <a:t>abnehmen, annehmen, aufnehmen, ausnehmen, einnehmen, mitnehmen, vornehmen, zunehmen.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Sinnunterscheidung: </a:t>
            </a:r>
            <a:r>
              <a:rPr sz="1100">
                <a:solidFill>
                  <a:srgbClr val="94A3B8"/>
                </a:solidFill>
                <a:latin typeface="Arial"/>
              </a:rPr>
              <a:t>Jedes Kompositum erhält seine spezifische deutsche &amp; englische Bedeutung.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Präfix-Pills: </a:t>
            </a:r>
            <a:r>
              <a:rPr sz="1100">
                <a:solidFill>
                  <a:srgbClr val="94A3B8"/>
                </a:solidFill>
                <a:latin typeface="Arial"/>
              </a:rPr>
              <a:t>Farbige Kennzeichnung (Blau = trennbar, Lila = untrennbar).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UMLAUT-NORMALIZER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Cross-Umlaut Normalisierung bei starker Flexion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Das Umlaut-Problem in Texten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Vokalwechsel im Präsens &amp; Konjunktiv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Konjugierte Formen im PDF: </a:t>
            </a:r>
            <a:r>
              <a:rPr sz="1100">
                <a:solidFill>
                  <a:srgbClr val="94A3B8"/>
                </a:solidFill>
                <a:latin typeface="Arial"/>
              </a:rPr>
              <a:t>'Er fängt an' $\to$ Stamm hat Umlaut 'fäng-', Grundform ist 'fangen'.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Weitere Vokalwechsel: </a:t>
            </a:r>
            <a:r>
              <a:rPr sz="1100">
                <a:solidFill>
                  <a:srgbClr val="94A3B8"/>
                </a:solidFill>
                <a:latin typeface="Arial"/>
              </a:rPr>
              <a:t>'fährt' (fahren), 'läuft' (laufen), 'stößt' (stoßen), 'trägt' (tragen).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Problem klassischer Parser: </a:t>
            </a:r>
            <a:r>
              <a:rPr sz="1100">
                <a:solidFill>
                  <a:srgbClr val="94A3B8"/>
                </a:solidFill>
                <a:latin typeface="Arial"/>
              </a:rPr>
              <a:t>Erkennen 'fäng-' nicht als Wurzel von 'fangen' und scheitern.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Die WortSchatz Normalizer-Lösung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Bidirektionales Vokal-Mapping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Automatisches Vokal-Mapping: </a:t>
            </a:r>
            <a:r>
              <a:rPr sz="1100">
                <a:solidFill>
                  <a:srgbClr val="94A3B8"/>
                </a:solidFill>
                <a:latin typeface="Arial"/>
              </a:rPr>
              <a:t>ä $\leftrightarrow$ a, ö $\leftrightarrow$ o, ü $\leftrightarrow$ u, ie $\leftrightarrow$ 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Stamm-Wiederherstellung: </a:t>
            </a:r>
            <a:r>
              <a:rPr sz="1100">
                <a:solidFill>
                  <a:srgbClr val="94A3B8"/>
                </a:solidFill>
                <a:latin typeface="Arial"/>
              </a:rPr>
              <a:t>Erkennt sofort, dass 'er fängt an' zum Infinitiv 'anfangen' gehört.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Partizip-II Erkennung: </a:t>
            </a:r>
            <a:r>
              <a:rPr sz="1100">
                <a:solidFill>
                  <a:srgbClr val="94A3B8"/>
                </a:solidFill>
                <a:latin typeface="Arial"/>
              </a:rPr>
              <a:t>Löst 'angefangen' (ge-Infix) sauber in 'an' + 'fangen' auf.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Fehlerfreie Wortfamilie: </a:t>
            </a:r>
            <a:r>
              <a:rPr sz="1100">
                <a:solidFill>
                  <a:srgbClr val="94A3B8"/>
                </a:solidFill>
                <a:latin typeface="Arial"/>
              </a:rPr>
              <a:t>Zeigt direkt die vollständige Wortfamilie von 'fangen' 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Apple &amp; Linear inspirierte Benutzeroberfläche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Dark-First Ästhetik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Fokus auf Lesekomfort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Farbpalette: </a:t>
            </a:r>
            <a:r>
              <a:rPr sz="1100">
                <a:solidFill>
                  <a:srgbClr val="94A3B8"/>
                </a:solidFill>
                <a:latin typeface="Arial"/>
              </a:rPr>
              <a:t>Tiefes Slate-Schwarz (#0B0F19) schont die Augen bei stundenlangem Lesen.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Glassmorphism: </a:t>
            </a:r>
            <a:r>
              <a:rPr sz="1100">
                <a:solidFill>
                  <a:srgbClr val="94A3B8"/>
                </a:solidFill>
                <a:latin typeface="Arial"/>
              </a:rPr>
              <a:t>Dezente Transparenzen mit Backdrop-Filter (12px Blur).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Typografie: </a:t>
            </a:r>
            <a:r>
              <a:rPr sz="1100">
                <a:solidFill>
                  <a:srgbClr val="94A3B8"/>
                </a:solidFill>
                <a:latin typeface="Arial"/>
              </a:rPr>
              <a:t>Moderne System-Schriftarten (Inter / SF Pro) für beste Lesbarkeit.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Semantische Farben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Intuitive Grammatik-Signale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Wortarten-Farbkodierung: </a:t>
            </a:r>
            <a:r>
              <a:rPr sz="1100">
                <a:solidFill>
                  <a:srgbClr val="94A3B8"/>
                </a:solidFill>
                <a:latin typeface="Arial"/>
              </a:rPr>
              <a:t>Nomen = Blau, Verben = Grün, Adjektive = Amber, Partikeln = Violett.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Präfix-Pills: </a:t>
            </a:r>
            <a:r>
              <a:rPr sz="1100">
                <a:solidFill>
                  <a:srgbClr val="94A3B8"/>
                </a:solidFill>
                <a:latin typeface="Arial"/>
              </a:rPr>
              <a:t>Trennbare Präfixe werden farblich vom Wortstamm abgehoben.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Highlight-Farben: </a:t>
            </a:r>
            <a:r>
              <a:rPr sz="1100">
                <a:solidFill>
                  <a:srgbClr val="94A3B8"/>
                </a:solidFill>
                <a:latin typeface="Arial"/>
              </a:rPr>
              <a:t>4 Textmarker-Farben mit semantischer Bedeutung.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Barrierefreiheit &amp; Hotkeys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Schnelle Bedienung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Tastatur-Navigation: </a:t>
            </a:r>
            <a:r>
              <a:rPr sz="1100">
                <a:solidFill>
                  <a:srgbClr val="94A3B8"/>
                </a:solidFill>
                <a:latin typeface="Arial"/>
              </a:rPr>
              <a:t>Blättern mit Pfeiltasten, Markieren mit Hotkeys (H, N, F).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Audio-Integration: </a:t>
            </a:r>
            <a:r>
              <a:rPr sz="1100">
                <a:solidFill>
                  <a:srgbClr val="94A3B8"/>
                </a:solidFill>
                <a:latin typeface="Arial"/>
              </a:rPr>
              <a:t>1-Klick Aussprache-Button mit nativer Sprachausgabe.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Responsives Layout: </a:t>
            </a:r>
            <a:r>
              <a:rPr sz="1100">
                <a:solidFill>
                  <a:srgbClr val="94A3B8"/>
                </a:solidFill>
                <a:latin typeface="Arial"/>
              </a:rPr>
              <a:t>Passt sich nahtlos an Laptops, Tablets und 4K-Monitore 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VOKABELKARTE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Die Dual-State Vokabelkarte mit iOS-Master-Toggle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Kompaktmodus (Standard)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Minimaler Footprint beim Lesen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Kopfbereich: </a:t>
            </a:r>
            <a:r>
              <a:rPr sz="1100">
                <a:solidFill>
                  <a:srgbClr val="94A3B8"/>
                </a:solidFill>
                <a:latin typeface="Arial"/>
              </a:rPr>
              <a:t>Suchwort in Großschrift mit Artikel (der/die/das) und IPA.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Primäre Bedeutung: </a:t>
            </a:r>
            <a:r>
              <a:rPr sz="1100">
                <a:solidFill>
                  <a:srgbClr val="94A3B8"/>
                </a:solidFill>
                <a:latin typeface="Arial"/>
              </a:rPr>
              <a:t>Präzise englische &amp; deutsche Übersetzung im Satzkontext.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Schnellaktionen: </a:t>
            </a:r>
            <a:r>
              <a:rPr sz="1100">
                <a:solidFill>
                  <a:srgbClr val="94A3B8"/>
                </a:solidFill>
                <a:latin typeface="Arial"/>
              </a:rPr>
              <a:t>Notiz hinzufügen, Vektor-Highlight setzen, Audio abspielen.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iOS-Toggle Schalter: </a:t>
            </a:r>
            <a:r>
              <a:rPr sz="1100">
                <a:solidFill>
                  <a:srgbClr val="94A3B8"/>
                </a:solidFill>
                <a:latin typeface="Arial"/>
              </a:rPr>
              <a:t>Kompakter Schalter zum Ein-/Ausklappen der Tiefenanalyse.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Erweiterter Modus (Tiefenanalyse)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Vollständige linguistische Zerlegung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Wortfamilien-Gitter: </a:t>
            </a:r>
            <a:r>
              <a:rPr sz="1100">
                <a:solidFill>
                  <a:srgbClr val="94A3B8"/>
                </a:solidFill>
                <a:latin typeface="Arial"/>
              </a:rPr>
              <a:t>Alle verwandten Verben, Nomen und Adjektive als anklickbare Pills.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Präfix- &amp; Suffix-Matrix: </a:t>
            </a:r>
            <a:r>
              <a:rPr sz="1100">
                <a:solidFill>
                  <a:srgbClr val="94A3B8"/>
                </a:solidFill>
                <a:latin typeface="Arial"/>
              </a:rPr>
              <a:t>Übersicht aller Vorsilben mit grammatikalischer Bedeutungsänderung.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Konjugations-Tabelle: </a:t>
            </a:r>
            <a:r>
              <a:rPr sz="1100">
                <a:solidFill>
                  <a:srgbClr val="94A3B8"/>
                </a:solidFill>
                <a:latin typeface="Arial"/>
              </a:rPr>
              <a:t>Präsens, Präteritum, Perfekt (Hilfsverb haben/sein).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Beispielsätze: </a:t>
            </a:r>
            <a:r>
              <a:rPr sz="1100">
                <a:solidFill>
                  <a:srgbClr val="94A3B8"/>
                </a:solidFill>
                <a:latin typeface="Arial"/>
              </a:rPr>
              <a:t>Authentische deutsche Anwendungsbeispiele aus Fachtexten.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FILTERLEISTE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Interaktive Sub-Pill Filterleiste für Vokabeln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Gezielte Wortexploration auf Knopfdruck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4 Interaktive Filterkategorien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Pill 1: Wortfamilie (Alle Derivate): </a:t>
            </a:r>
            <a:r>
              <a:rPr sz="1100">
                <a:solidFill>
                  <a:srgbClr val="94A3B8"/>
                </a:solidFill>
                <a:latin typeface="Arial"/>
              </a:rPr>
              <a:t>Zeigt alle vom Stamm abgeleiteten Wörter inklusive Nomen (z.B. Antwort, Beantwortung) und Verben.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Pill 2: Präfixe (Untrennbar &amp; Modifizierend): </a:t>
            </a:r>
            <a:r>
              <a:rPr sz="1100">
                <a:solidFill>
                  <a:srgbClr val="94A3B8"/>
                </a:solidFill>
                <a:latin typeface="Arial"/>
              </a:rPr>
              <a:t>Filtert gezielt nach untrennbaren Präfixen (beantworten, verantworten) zur Verdeutlichung fester Verbformen.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Pill 3: Trennbare Verben (Satzklammer-Fokus): </a:t>
            </a:r>
            <a:r>
              <a:rPr sz="1100">
                <a:solidFill>
                  <a:srgbClr val="94A3B8"/>
                </a:solidFill>
                <a:latin typeface="Arial"/>
              </a:rPr>
              <a:t>Hebt isoliert trennbare Varianten (abantworten) mit farblicher Trennstelle hervor.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Pill 4: Suffixe &amp; Ableitungen: </a:t>
            </a:r>
            <a:r>
              <a:rPr sz="1100">
                <a:solidFill>
                  <a:srgbClr val="94A3B8"/>
                </a:solidFill>
                <a:latin typeface="Arial"/>
              </a:rPr>
              <a:t>Zeigt Wortbildungsmuster mit Suffixen (-ung, -bar, -lich, -keit, -schaft).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Interaktiver Drill-Down: </a:t>
            </a:r>
            <a:r>
              <a:rPr sz="1100">
                <a:solidFill>
                  <a:srgbClr val="94A3B8"/>
                </a:solidFill>
                <a:latin typeface="Arial"/>
              </a:rPr>
              <a:t>Klick auf eine beliebige Sub-Pill lädt sofort die Analyse dieses neuen Begriffs.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ÜBERSETZUNG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Lokale Übersetzungs-Kaskade &amp; Komposita-Zerleger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3-Stufen Übersetzungs-Kaskade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Blitzschnell ohne Server-Latenz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Stufe 1: Lokales Fachwörterbuch (&lt;0,1ms): </a:t>
            </a:r>
            <a:r>
              <a:rPr sz="1100">
                <a:solidFill>
                  <a:srgbClr val="94A3B8"/>
                </a:solidFill>
                <a:latin typeface="Arial"/>
              </a:rPr>
              <a:t>Durchsucht das integrierte Offline-Lexikon nach exakten Matches.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Stufe 2: Komposita-Dekomposition: </a:t>
            </a:r>
            <a:r>
              <a:rPr sz="1100">
                <a:solidFill>
                  <a:srgbClr val="94A3B8"/>
                </a:solidFill>
                <a:latin typeface="Arial"/>
              </a:rPr>
              <a:t>Zerlegt unbekannte Komposita rekursiv in bekannte Teilwörter.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Stufe 3: Fallback &amp; Kontextübersetzung: </a:t>
            </a:r>
            <a:r>
              <a:rPr sz="1100">
                <a:solidFill>
                  <a:srgbClr val="94A3B8"/>
                </a:solidFill>
                <a:latin typeface="Arial"/>
              </a:rPr>
              <a:t>Optionale externe API-Anbindung (DeepL / Google Translate) bei aktiver Internetverbindung.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Offline-Priorität: </a:t>
            </a:r>
            <a:r>
              <a:rPr sz="1100">
                <a:solidFill>
                  <a:srgbClr val="94A3B8"/>
                </a:solidFill>
                <a:latin typeface="Arial"/>
              </a:rPr>
              <a:t>Funktioniert uneingeschränkt im Flugzeug oder im Offline-Modus.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Beispiel: Komposita-Zerlegung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Rechtsschutzversicherungsgesellschaft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1. Recht: </a:t>
            </a:r>
            <a:r>
              <a:rPr sz="1100">
                <a:solidFill>
                  <a:srgbClr val="94A3B8"/>
                </a:solidFill>
                <a:latin typeface="Arial"/>
              </a:rPr>
              <a:t>Law / Justice (Nomen, das Recht).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2. Schutz: </a:t>
            </a:r>
            <a:r>
              <a:rPr sz="1100">
                <a:solidFill>
                  <a:srgbClr val="94A3B8"/>
                </a:solidFill>
                <a:latin typeface="Arial"/>
              </a:rPr>
              <a:t>Protection / Defense (Nomen, der Schutz).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3. Versicherung: </a:t>
            </a:r>
            <a:r>
              <a:rPr sz="1100">
                <a:solidFill>
                  <a:srgbClr val="94A3B8"/>
                </a:solidFill>
                <a:latin typeface="Arial"/>
              </a:rPr>
              <a:t>Insurance (Nomen mit Suffix -ung, die Versicherung).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4. Gesellschaft: </a:t>
            </a:r>
            <a:r>
              <a:rPr sz="1100">
                <a:solidFill>
                  <a:srgbClr val="94A3B8"/>
                </a:solidFill>
                <a:latin typeface="Arial"/>
              </a:rPr>
              <a:t>Company / Society (Nomen mit Suffix -schaft).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Synthetisierte Bedeutung: </a:t>
            </a:r>
            <a:r>
              <a:rPr sz="1100">
                <a:solidFill>
                  <a:srgbClr val="94A3B8"/>
                </a:solidFill>
                <a:latin typeface="Arial"/>
              </a:rPr>
              <a:t>'Legal protection insurance company' – sofort verständlich.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PDF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Vektor-PDF Export &amp; Byte-Level Annotationen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Der falsche Weg (Bitmap Export)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Warum Screenshots versagen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Canvas-to-Image Konvertierung: </a:t>
            </a:r>
            <a:r>
              <a:rPr sz="1100">
                <a:solidFill>
                  <a:srgbClr val="94A3B8"/>
                </a:solidFill>
                <a:latin typeface="Arial"/>
              </a:rPr>
              <a:t>Standard-Web-Apps machen Screenshots von Canvas-Seiten.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Verlust der Vektorschärfe: </a:t>
            </a:r>
            <a:r>
              <a:rPr sz="1100">
                <a:solidFill>
                  <a:srgbClr val="94A3B8"/>
                </a:solidFill>
                <a:latin typeface="Arial"/>
              </a:rPr>
              <a:t>Schrift wird beim Hineinzoomen unscharf und verpixelt.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Text ist nicht mehr suchbar: </a:t>
            </a:r>
            <a:r>
              <a:rPr sz="1100">
                <a:solidFill>
                  <a:srgbClr val="94A3B8"/>
                </a:solidFill>
                <a:latin typeface="Arial"/>
              </a:rPr>
              <a:t>OCR geht verloren, Wörter können nicht markiert werden.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Riesige Dateigrößen: </a:t>
            </a:r>
            <a:r>
              <a:rPr sz="1100">
                <a:solidFill>
                  <a:srgbClr val="94A3B8"/>
                </a:solidFill>
                <a:latin typeface="Arial"/>
              </a:rPr>
              <a:t>Mehrere Megabytes pro Seite statt weniger Kilobytes.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Der WortSchatz Weg (PDF-Lib Byte Injektion)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Echter Vektor-Export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PDF-Lib Vektor-Annotationen: </a:t>
            </a:r>
            <a:r>
              <a:rPr sz="1100">
                <a:solidFill>
                  <a:srgbClr val="94A3B8"/>
                </a:solidFill>
                <a:latin typeface="Arial"/>
              </a:rPr>
              <a:t>Schreibt echte PDF /Highlight und /Annot Objekte in die PDF-Struktur.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100% Vektorschärfe: </a:t>
            </a:r>
            <a:r>
              <a:rPr sz="1100">
                <a:solidFill>
                  <a:srgbClr val="94A3B8"/>
                </a:solidFill>
                <a:latin typeface="Arial"/>
              </a:rPr>
              <a:t>Text bleibt bei 1000% Zoom gestochen scharf gerendert.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Voll kompatibel: </a:t>
            </a:r>
            <a:r>
              <a:rPr sz="1100">
                <a:solidFill>
                  <a:srgbClr val="94A3B8"/>
                </a:solidFill>
                <a:latin typeface="Arial"/>
              </a:rPr>
              <a:t>Highlights und Notizen sind in Adobe Acrobat, Apple Vorschau &amp; Foxit sichtbar.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Minimale Dateigröße: </a:t>
            </a:r>
            <a:r>
              <a:rPr sz="1100">
                <a:solidFill>
                  <a:srgbClr val="94A3B8"/>
                </a:solidFill>
                <a:latin typeface="Arial"/>
              </a:rPr>
              <a:t>Fügt nur wenige Kilobytes an Metadaten zur Originaldatei hinzu.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PKM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Obsidian &amp; Personal Knowledge Base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1-Klick Markdown &amp; YAML Export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Nahtlose Zettelkasten-Verbindung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Sauberes YAML-Frontmatter: </a:t>
            </a:r>
            <a:r>
              <a:rPr sz="1100">
                <a:solidFill>
                  <a:srgbClr val="94A3B8"/>
                </a:solidFill>
                <a:latin typeface="Arial"/>
              </a:rPr>
              <a:t>Enthält Tags, Datum, Quelle (PDF-Name), Seitennummer und Wortart.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Wikilinks &amp; Backlinks: </a:t>
            </a:r>
            <a:r>
              <a:rPr sz="1100">
                <a:solidFill>
                  <a:srgbClr val="94A3B8"/>
                </a:solidFill>
                <a:latin typeface="Arial"/>
              </a:rPr>
              <a:t>Verlinkt Stammwörter automatisch mit verwandten Begriffen (`[[Wurzel]]`).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Dataview-Kompatibilität: </a:t>
            </a:r>
            <a:r>
              <a:rPr sz="1100">
                <a:solidFill>
                  <a:srgbClr val="94A3B8"/>
                </a:solidFill>
                <a:latin typeface="Arial"/>
              </a:rPr>
              <a:t>Perfekt formatiert für automatisierte Dataview-Tabellen in Obsidian.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Anki &amp; CSV Export: </a:t>
            </a:r>
            <a:r>
              <a:rPr sz="1100">
                <a:solidFill>
                  <a:srgbClr val="94A3B8"/>
                </a:solidFill>
                <a:latin typeface="Arial"/>
              </a:rPr>
              <a:t>Zusätzlicher Export für digitale Karteikarten-Systeme.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Beispiel einer exportierten Obsidian-Note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Strukturierte Wissensablage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Frontmatter: </a:t>
            </a:r>
            <a:r>
              <a:rPr sz="1100">
                <a:solidFill>
                  <a:srgbClr val="94A3B8"/>
                </a:solidFill>
                <a:latin typeface="Arial"/>
              </a:rPr>
              <a:t>---
tags: [deutsch, wortschatz, b2]
stamm: antworten
---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# beantworten (Verb): </a:t>
            </a:r>
            <a:r>
              <a:rPr sz="1100">
                <a:solidFill>
                  <a:srgbClr val="94A3B8"/>
                </a:solidFill>
                <a:latin typeface="Arial"/>
              </a:rPr>
              <a:t>Bedeutung: to answer / to reply to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## Morphologie: </a:t>
            </a:r>
            <a:r>
              <a:rPr sz="1100">
                <a:solidFill>
                  <a:srgbClr val="94A3B8"/>
                </a:solidFill>
                <a:latin typeface="Arial"/>
              </a:rPr>
              <a:t>Untrennbares Präfix `be-` + Wurzel `[[antworten]]`.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## Beispielsatz: </a:t>
            </a:r>
            <a:r>
              <a:rPr sz="1100">
                <a:solidFill>
                  <a:srgbClr val="94A3B8"/>
                </a:solidFill>
                <a:latin typeface="Arial"/>
              </a:rPr>
              <a:t>"Bitte beantworten Sie die E-Mail bis morgen."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FLASHCARDS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Flashcard-Studio &amp; Active Recall Lernmodus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Interaktiver 3D-Flip Lernmodus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Spaced Repetition &amp; Gedächtnisverankerung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Vorderseite (Prompt): </a:t>
            </a:r>
            <a:r>
              <a:rPr sz="1100">
                <a:solidFill>
                  <a:srgbClr val="94A3B8"/>
                </a:solidFill>
                <a:latin typeface="Arial"/>
              </a:rPr>
              <a:t>Zeigt das deutsche Wort im Satzkontext oder die Lücke zur Selbstabfrage.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Rückseite (Auflösung): </a:t>
            </a:r>
            <a:r>
              <a:rPr sz="1100">
                <a:solidFill>
                  <a:srgbClr val="94A3B8"/>
                </a:solidFill>
                <a:latin typeface="Arial"/>
              </a:rPr>
              <a:t>3D-Kartendrehung enthüllt Übersetzung, Wortfamilie und Grammatikregeln.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Audio-Playback: </a:t>
            </a:r>
            <a:r>
              <a:rPr sz="1100">
                <a:solidFill>
                  <a:srgbClr val="94A3B8"/>
                </a:solidFill>
                <a:latin typeface="Arial"/>
              </a:rPr>
              <a:t>Direktes Anhören der korrekten deutschen Aussprache auf Knopfdruck.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Selbstbewertung (1-4): </a:t>
            </a:r>
            <a:r>
              <a:rPr sz="1100">
                <a:solidFill>
                  <a:srgbClr val="94A3B8"/>
                </a:solidFill>
                <a:latin typeface="Arial"/>
              </a:rPr>
              <a:t>Wiederholungsintervalle basierend auf Leitner- / SM-2 Algorithmus.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Konjugations- &amp; Präfix-Drills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Gezieltes Grammatiktraining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Präfix-Zuordnungsspiel: </a:t>
            </a:r>
            <a:r>
              <a:rPr sz="1100">
                <a:solidFill>
                  <a:srgbClr val="94A3B8"/>
                </a:solidFill>
                <a:latin typeface="Arial"/>
              </a:rPr>
              <a:t>Welches Präfix passt zur Bedeutung? ('ab-', 'an-', 'aus-').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Stammformen-Drill: </a:t>
            </a:r>
            <a:r>
              <a:rPr sz="1100">
                <a:solidFill>
                  <a:srgbClr val="94A3B8"/>
                </a:solidFill>
                <a:latin typeface="Arial"/>
              </a:rPr>
              <a:t>Eingabe von Präteritum und Partizip II unregelmäßiger Verben.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EF444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Fehleranalyse: </a:t>
            </a:r>
            <a:r>
              <a:rPr sz="1100">
                <a:solidFill>
                  <a:srgbClr val="94A3B8"/>
                </a:solidFill>
                <a:latin typeface="Arial"/>
              </a:rPr>
              <a:t>Häufig falsch beantwortete Wörter werden priorisiert wiederholt.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Statistik &amp; Fortschritt: </a:t>
            </a:r>
            <a:r>
              <a:rPr sz="1100">
                <a:solidFill>
                  <a:srgbClr val="94A3B8"/>
                </a:solidFill>
                <a:latin typeface="Arial"/>
              </a:rPr>
              <a:t>Tägliche Lernkurve und gemeisterte Vokabeln im Dashboard.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DATENSCHUTZ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100% DSGVO-Konformität &amp; Standalone-Build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Client-Side Zero-Telemetry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Maximale Datensicherheit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0 Server-Anfragen: </a:t>
            </a:r>
            <a:r>
              <a:rPr sz="1100">
                <a:solidFill>
                  <a:srgbClr val="94A3B8"/>
                </a:solidFill>
                <a:latin typeface="Arial"/>
              </a:rPr>
              <a:t>PDF-Dateien verlassen zu keinem Zeitpunkt das lokale Endgerät des Nutzers.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Keine Tracking-Cookies: </a:t>
            </a:r>
            <a:r>
              <a:rPr sz="1100">
                <a:solidFill>
                  <a:srgbClr val="94A3B8"/>
                </a:solidFill>
                <a:latin typeface="Arial"/>
              </a:rPr>
              <a:t>Vollkommen frei von Google Analytics, Telemetrie oder Werbebannern.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Unternehmenstauglich: </a:t>
            </a:r>
            <a:r>
              <a:rPr sz="1100">
                <a:solidFill>
                  <a:srgbClr val="94A3B8"/>
                </a:solidFill>
                <a:latin typeface="Arial"/>
              </a:rPr>
              <a:t>Eignet sich für vertrauliche Geschäftsunterlagen, Verträge und Patentschriften.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100% DSGVO / GDPR-Konform: </a:t>
            </a:r>
            <a:r>
              <a:rPr sz="1100">
                <a:solidFill>
                  <a:srgbClr val="94A3B8"/>
                </a:solidFill>
                <a:latin typeface="Arial"/>
              </a:rPr>
              <a:t>Erfüllt höchste europäische Datenschutzanforderungen 'by design'.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WortSchatz_Standalone.html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Autarke Single-File Lösung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Alles in einer Datei: </a:t>
            </a:r>
            <a:r>
              <a:rPr sz="1100">
                <a:solidFill>
                  <a:srgbClr val="94A3B8"/>
                </a:solidFill>
                <a:latin typeface="Arial"/>
              </a:rPr>
              <a:t>HTML, CSS, JavaScript, PDF.js Engine &amp; Wörterbuch in einer einzigen HTML-Datei.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Keine Installation nötig: </a:t>
            </a:r>
            <a:r>
              <a:rPr sz="1100">
                <a:solidFill>
                  <a:srgbClr val="94A3B8"/>
                </a:solidFill>
                <a:latin typeface="Arial"/>
              </a:rPr>
              <a:t>Läuft direkt per Doppelklick in Chrome, Safari, Firefox und Edge.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USB-Stick &amp; Offline Ready: </a:t>
            </a:r>
            <a:r>
              <a:rPr sz="1100">
                <a:solidFill>
                  <a:srgbClr val="94A3B8"/>
                </a:solidFill>
                <a:latin typeface="Arial"/>
              </a:rPr>
              <a:t>Transportabel auf USB-Sticks, funktioniert ohne Node.js oder Webserver.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Zukunftssicher: </a:t>
            </a:r>
            <a:r>
              <a:rPr sz="1100">
                <a:solidFill>
                  <a:srgbClr val="94A3B8"/>
                </a:solidFill>
                <a:latin typeface="Arial"/>
              </a:rPr>
              <a:t>Keine externen CDN-Abhängigkeiten, die in Zukunft ausfallen könnten.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QUALITÄTSSICHERUNG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Testmatrix &amp; Verifikations-Ergebnisse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52 Test-Checkpoints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Systematische Validierung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Morphologie Tests: </a:t>
            </a:r>
            <a:r>
              <a:rPr sz="1100">
                <a:solidFill>
                  <a:srgbClr val="94A3B8"/>
                </a:solidFill>
                <a:latin typeface="Arial"/>
              </a:rPr>
              <a:t>25 Tests für Präfixe, Suffixe, Komposita und Vokalwechsel.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94A3B8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UI &amp; Toggle Tests: </a:t>
            </a:r>
            <a:r>
              <a:rPr sz="1100">
                <a:solidFill>
                  <a:srgbClr val="94A3B8"/>
                </a:solidFill>
                <a:latin typeface="Arial"/>
              </a:rPr>
              <a:t>15 Tests für Master-Toggle, Sub-Pills und Responsive Design.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Export &amp; Vektor Tests: </a:t>
            </a:r>
            <a:r>
              <a:rPr sz="1100">
                <a:solidFill>
                  <a:srgbClr val="94A3B8"/>
                </a:solidFill>
                <a:latin typeface="Arial"/>
              </a:rPr>
              <a:t>12 Tests für PDF-Lib Vektor-Injektion und Obsidian Markdown.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240+ Verbwurzeln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Umfassende Grammatik-Abdeckung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Inseparable Prefix Guard: </a:t>
            </a:r>
            <a:r>
              <a:rPr sz="1100">
                <a:solidFill>
                  <a:srgbClr val="94A3B8"/>
                </a:solidFill>
                <a:latin typeface="Arial"/>
              </a:rPr>
              <a:t>0% Fehlzerlegungen bei ge-/be-/ver- Wörtern (z.B. beantworten).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Umlaut-Mutationen: </a:t>
            </a:r>
            <a:r>
              <a:rPr sz="1100">
                <a:solidFill>
                  <a:srgbClr val="94A3B8"/>
                </a:solidFill>
                <a:latin typeface="Arial"/>
              </a:rPr>
              <a:t>100% Erkennung flektierter Formen (fängt $\to$ fangen, läuft $\to$ laufen).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Trennbare Komposita: </a:t>
            </a:r>
            <a:r>
              <a:rPr sz="1100">
                <a:solidFill>
                  <a:srgbClr val="94A3B8"/>
                </a:solidFill>
                <a:latin typeface="Arial"/>
              </a:rPr>
              <a:t>Exakte Trennung mehrsilbiger Präfixe (zurück-, zusammen-).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Performance-Metriken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Echtzeit-Verarbeitung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Parsing-Latenz: </a:t>
            </a:r>
            <a:r>
              <a:rPr sz="1100">
                <a:solidFill>
                  <a:srgbClr val="94A3B8"/>
                </a:solidFill>
                <a:latin typeface="Arial"/>
              </a:rPr>
              <a:t>&lt; 0,1 Millisekunden pro Wortzerlegung.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Render-Latenz: </a:t>
            </a:r>
            <a:r>
              <a:rPr sz="1100">
                <a:solidFill>
                  <a:srgbClr val="94A3B8"/>
                </a:solidFill>
                <a:latin typeface="Arial"/>
              </a:rPr>
              <a:t>60 FPS flüssiges Scrollen und Zoomen bei 500+ Seiten PDFs.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Speicherverbrauch: </a:t>
            </a:r>
            <a:r>
              <a:rPr sz="1100">
                <a:solidFill>
                  <a:srgbClr val="94A3B8"/>
                </a:solidFill>
                <a:latin typeface="Arial"/>
              </a:rPr>
              <a:t>Unter 45 MB RAM auch bei großen Fachbüchern.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ROADMAP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457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Fazit &amp; Zukünftige Weiterentwicklung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8288"/>
          </a:xfrm>
          <a:prstGeom prst="rect">
            <a:avLst/>
          </a:prstGeom>
          <a:solidFill>
            <a:srgbClr val="25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Projekt-Fazit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Erreichte Meilensteine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Intelligentes Lesen: </a:t>
            </a:r>
            <a:r>
              <a:rPr sz="1100">
                <a:solidFill>
                  <a:srgbClr val="94A3B8"/>
                </a:solidFill>
                <a:latin typeface="Arial"/>
              </a:rPr>
              <a:t>WortSchatz löst die Hürden der deutschen Agglutination und Satzklammer vollständig.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Nutzerzentriertes Design: </a:t>
            </a:r>
            <a:r>
              <a:rPr sz="1100">
                <a:solidFill>
                  <a:srgbClr val="94A3B8"/>
                </a:solidFill>
                <a:latin typeface="Arial"/>
              </a:rPr>
              <a:t>Perfekte Balance aus schnellem Lesefluss und linguistischer Tiefenanalyse.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06B6D4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Souveräne Datensicherheit: </a:t>
            </a:r>
            <a:r>
              <a:rPr sz="1100">
                <a:solidFill>
                  <a:srgbClr val="94A3B8"/>
                </a:solidFill>
                <a:latin typeface="Arial"/>
              </a:rPr>
              <a:t>100% Client-Side Architektur setzt neue Standards für Bildungs-Apps.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Produktionsreif: </a:t>
            </a:r>
            <a:r>
              <a:rPr sz="1100">
                <a:solidFill>
                  <a:srgbClr val="94A3B8"/>
                </a:solidFill>
                <a:latin typeface="Arial"/>
              </a:rPr>
              <a:t>Vollständig getestet mit 52 Checkpoints und 240+ Verb-Stämmen.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Strategische Roadmap v3.0</a:t>
            </a:r>
          </a:p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Ausblick &amp; Erweiterungen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8B5C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Satzklammer-Auto-Linker: </a:t>
            </a:r>
            <a:r>
              <a:rPr sz="1100">
                <a:solidFill>
                  <a:srgbClr val="94A3B8"/>
                </a:solidFill>
                <a:latin typeface="Arial"/>
              </a:rPr>
              <a:t>Automatische visuelle Verbindung von getrenntem Verb und Präfix im Satz.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3B82F6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Cloud-Sync via WebDAV: </a:t>
            </a:r>
            <a:r>
              <a:rPr sz="1100">
                <a:solidFill>
                  <a:srgbClr val="94A3B8"/>
                </a:solidFill>
                <a:latin typeface="Arial"/>
              </a:rPr>
              <a:t>Optionale verschlüsselte Synchronisation zwischen Desktop und Tablet.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F59E0B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Community-Wörterbuch Plugin: </a:t>
            </a:r>
            <a:r>
              <a:rPr sz="1100">
                <a:solidFill>
                  <a:srgbClr val="94A3B8"/>
                </a:solidFill>
                <a:latin typeface="Arial"/>
              </a:rPr>
              <a:t>Erweiterungsmöglichkeit für juristische, medizinische &amp; ingenieurwissenschaftliche Fachwörterbücher.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b="1">
                <a:solidFill>
                  <a:srgbClr val="10B981"/>
                </a:solidFill>
                <a:latin typeface="Arial"/>
              </a:rPr>
              <a:t>• </a:t>
            </a:r>
            <a:r>
              <a:rPr b="1" sz="1150">
                <a:solidFill>
                  <a:srgbClr val="F8FAFC"/>
                </a:solidFill>
                <a:latin typeface="Arial"/>
              </a:rPr>
              <a:t>Mobile App (PWA): </a:t>
            </a:r>
            <a:r>
              <a:rPr sz="1100">
                <a:solidFill>
                  <a:srgbClr val="94A3B8"/>
                </a:solidFill>
                <a:latin typeface="Arial"/>
              </a:rPr>
              <a:t>Optimierte Touch-Gesten und Offline-Speicher für iOS und Android.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